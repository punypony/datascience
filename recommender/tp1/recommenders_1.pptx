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34"/>
  </p:notesMasterIdLst>
  <p:sldIdLst>
    <p:sldId id="256" r:id="rId2"/>
    <p:sldId id="258" r:id="rId3"/>
    <p:sldId id="260" r:id="rId4"/>
    <p:sldId id="287" r:id="rId5"/>
    <p:sldId id="288" r:id="rId6"/>
    <p:sldId id="259" r:id="rId7"/>
    <p:sldId id="261" r:id="rId8"/>
    <p:sldId id="286" r:id="rId9"/>
    <p:sldId id="264" r:id="rId10"/>
    <p:sldId id="291" r:id="rId11"/>
    <p:sldId id="289" r:id="rId12"/>
    <p:sldId id="292" r:id="rId13"/>
    <p:sldId id="293" r:id="rId14"/>
    <p:sldId id="294" r:id="rId15"/>
    <p:sldId id="303" r:id="rId16"/>
    <p:sldId id="290" r:id="rId17"/>
    <p:sldId id="295" r:id="rId18"/>
    <p:sldId id="296" r:id="rId19"/>
    <p:sldId id="298" r:id="rId20"/>
    <p:sldId id="301" r:id="rId21"/>
    <p:sldId id="302" r:id="rId22"/>
    <p:sldId id="300" r:id="rId23"/>
    <p:sldId id="299" r:id="rId24"/>
    <p:sldId id="304" r:id="rId25"/>
    <p:sldId id="305" r:id="rId26"/>
    <p:sldId id="307" r:id="rId27"/>
    <p:sldId id="308" r:id="rId28"/>
    <p:sldId id="309" r:id="rId29"/>
    <p:sldId id="306" r:id="rId30"/>
    <p:sldId id="310" r:id="rId31"/>
    <p:sldId id="311" r:id="rId32"/>
    <p:sldId id="312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Lora" panose="020B0604020202020204" charset="0"/>
      <p:regular r:id="rId36"/>
      <p:bold r:id="rId37"/>
      <p:italic r:id="rId38"/>
      <p:boldItalic r:id="rId39"/>
    </p:embeddedFont>
    <p:embeddedFont>
      <p:font typeface="MV Boli" panose="02000500030200090000" pitchFamily="2" charset="0"/>
      <p:regular r:id="rId40"/>
    </p:embeddedFont>
    <p:embeddedFont>
      <p:font typeface="Quattrocento Sans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D2A5B1-7E27-411B-82FB-A3FCE6BAEB7B}">
  <a:tblStyle styleId="{47D2A5B1-7E27-411B-82FB-A3FCE6BAEB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094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0135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502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564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7306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6938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388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9754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421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884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852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534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915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955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0883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205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210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7523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461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5533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2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userDrawn="1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highlight>
                  <a:srgbClr val="FFCD00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  <a:highlight>
                  <a:srgbClr val="FFCD00"/>
                </a:highlight>
              </a:defRPr>
            </a:lvl9pPr>
          </a:lstStyle>
          <a:p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-6025" y="2571762"/>
            <a:ext cx="1984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3"/>
          <p:cNvSpPr/>
          <p:nvPr userDrawn="1"/>
        </p:nvSpPr>
        <p:spPr>
          <a:xfrm>
            <a:off x="1117950" y="228825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" sz="1400" dirty="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5898975" y="2571750"/>
            <a:ext cx="325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0" name="Google Shape;112;p15">
            <a:extLst>
              <a:ext uri="{FF2B5EF4-FFF2-40B4-BE49-F238E27FC236}">
                <a16:creationId xmlns:a16="http://schemas.microsoft.com/office/drawing/2014/main" id="{AA2BA3CA-4AF8-445D-A39D-AC4CA5F3398E}"/>
              </a:ext>
            </a:extLst>
          </p:cNvPr>
          <p:cNvSpPr txBox="1"/>
          <p:nvPr userDrawn="1"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SzPts val="2400"/>
              <a:buFont typeface="Lora"/>
              <a:buChar char="◉"/>
              <a:defRPr sz="2400" i="1">
                <a:latin typeface="Lora"/>
                <a:ea typeface="Lora"/>
                <a:cs typeface="Lora"/>
                <a:sym typeface="Lora"/>
              </a:defRPr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○"/>
              <a:defRPr i="1">
                <a:latin typeface="Lora"/>
                <a:ea typeface="Lora"/>
                <a:cs typeface="Lora"/>
                <a:sym typeface="Lora"/>
              </a:defRPr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Char char="■"/>
              <a:defRPr i="1">
                <a:latin typeface="Lora"/>
                <a:ea typeface="Lora"/>
                <a:cs typeface="Lora"/>
                <a:sym typeface="Lora"/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●"/>
              <a:defRPr sz="2400" i="1">
                <a:latin typeface="Lora"/>
                <a:ea typeface="Lora"/>
                <a:cs typeface="Lora"/>
                <a:sym typeface="Lora"/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○"/>
              <a:defRPr sz="2400" i="1">
                <a:latin typeface="Lora"/>
                <a:ea typeface="Lora"/>
                <a:cs typeface="Lora"/>
                <a:sym typeface="Lora"/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Font typeface="Lora"/>
              <a:buChar char="■"/>
              <a:defRPr sz="2400" i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4584075" y="3676500"/>
            <a:ext cx="0" cy="148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4"/>
          <p:cNvSpPr/>
          <p:nvPr/>
        </p:nvSpPr>
        <p:spPr>
          <a:xfrm>
            <a:off x="4288500" y="3393000"/>
            <a:ext cx="567000" cy="5670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3593400" y="3412652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latin typeface="Lora"/>
                <a:ea typeface="Lora"/>
                <a:cs typeface="Lora"/>
                <a:sym typeface="Lora"/>
              </a:rPr>
              <a:t>“</a:t>
            </a:r>
            <a:endParaRPr sz="36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1pPr>
            <a:lvl2pPr lvl="1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 algn="ctr" rtl="0"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cxnSp>
        <p:nvCxnSpPr>
          <p:cNvPr id="31" name="Google Shape;31;p5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◉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38;p6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6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◉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7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" name="Google Shape;48;p7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381250" y="937117"/>
            <a:ext cx="68097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r">
              <a:buNone/>
              <a:defRPr sz="1000">
                <a:solidFill>
                  <a:srgbClr val="1D1D1B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Introduction to </a:t>
            </a:r>
            <a:r>
              <a:rPr lang="fr-FR" dirty="0" err="1">
                <a:highlight>
                  <a:srgbClr val="FFCD00"/>
                </a:highlight>
              </a:rPr>
              <a:t>Recmmender</a:t>
            </a:r>
            <a:r>
              <a:rPr lang="fr-FR" dirty="0">
                <a:highlight>
                  <a:srgbClr val="FFCD00"/>
                </a:highlight>
              </a:rPr>
              <a:t> </a:t>
            </a:r>
            <a:r>
              <a:rPr lang="fr-FR" dirty="0" err="1">
                <a:highlight>
                  <a:srgbClr val="FFCD00"/>
                </a:highlight>
              </a:rPr>
              <a:t>Systems</a:t>
            </a:r>
            <a:endParaRPr dirty="0"/>
          </a:p>
        </p:txBody>
      </p:sp>
      <p:grpSp>
        <p:nvGrpSpPr>
          <p:cNvPr id="72" name="Google Shape;72;p12"/>
          <p:cNvGrpSpPr/>
          <p:nvPr/>
        </p:nvGrpSpPr>
        <p:grpSpPr>
          <a:xfrm>
            <a:off x="1299165" y="3511424"/>
            <a:ext cx="215966" cy="342399"/>
            <a:chOff x="6718575" y="2318625"/>
            <a:chExt cx="256950" cy="407375"/>
          </a:xfrm>
        </p:grpSpPr>
        <p:sp>
          <p:nvSpPr>
            <p:cNvPr id="73" name="Google Shape;73;p1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subTitle" idx="4294967295"/>
          </p:nvPr>
        </p:nvSpPr>
        <p:spPr>
          <a:xfrm>
            <a:off x="2371500" y="2093775"/>
            <a:ext cx="502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i="1" dirty="0">
                <a:latin typeface="Lora"/>
                <a:ea typeface="Lora"/>
                <a:cs typeface="Lora"/>
                <a:sym typeface="Lora"/>
              </a:rPr>
              <a:t>I am </a:t>
            </a:r>
            <a:r>
              <a:rPr lang="fr-FR" sz="3600" b="1" i="1" dirty="0">
                <a:highlight>
                  <a:srgbClr val="FFCD00"/>
                </a:highlight>
                <a:latin typeface="Lora"/>
                <a:ea typeface="Lora"/>
                <a:cs typeface="Lora"/>
                <a:sym typeface="Lora"/>
              </a:rPr>
              <a:t>Alexandre Abraham</a:t>
            </a:r>
            <a:endParaRPr sz="3600" b="1" i="1" dirty="0">
              <a:highlight>
                <a:srgbClr val="FFCD00"/>
              </a:highlight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dirty="0" err="1">
                <a:solidFill>
                  <a:schemeClr val="dk1"/>
                </a:solidFill>
              </a:rPr>
              <a:t>Epita</a:t>
            </a:r>
            <a:r>
              <a:rPr lang="fr-FR" sz="1800" dirty="0">
                <a:solidFill>
                  <a:schemeClr val="dk1"/>
                </a:solidFill>
              </a:rPr>
              <a:t> CSI Promotion 2009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dirty="0">
                <a:solidFill>
                  <a:schemeClr val="dk1"/>
                </a:solidFill>
              </a:rPr>
              <a:t>Machine Learning </a:t>
            </a:r>
            <a:r>
              <a:rPr lang="fr-FR" sz="1800" dirty="0" err="1">
                <a:solidFill>
                  <a:schemeClr val="dk1"/>
                </a:solidFill>
              </a:rPr>
              <a:t>engineer</a:t>
            </a:r>
            <a:r>
              <a:rPr lang="fr-FR" sz="1800" dirty="0">
                <a:solidFill>
                  <a:schemeClr val="dk1"/>
                </a:solidFill>
              </a:rPr>
              <a:t> @ Criteo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</p:txBody>
      </p:sp>
      <p:cxnSp>
        <p:nvCxnSpPr>
          <p:cNvPr id="101" name="Google Shape;101;p14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" name="Google Shape;102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34600" y="861898"/>
            <a:ext cx="1133700" cy="1133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>
            <a:spLocks noGrp="1"/>
          </p:cNvSpPr>
          <p:nvPr>
            <p:ph type="ctrTitle" idx="4294967295"/>
          </p:nvPr>
        </p:nvSpPr>
        <p:spPr>
          <a:xfrm>
            <a:off x="2371625" y="816550"/>
            <a:ext cx="4908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Hello!</a:t>
            </a:r>
            <a:endParaRPr sz="6000"/>
          </a:p>
        </p:txBody>
      </p:sp>
      <p:cxnSp>
        <p:nvCxnSpPr>
          <p:cNvPr id="104" name="Google Shape;104;p14"/>
          <p:cNvCxnSpPr/>
          <p:nvPr/>
        </p:nvCxnSpPr>
        <p:spPr>
          <a:xfrm>
            <a:off x="4738400" y="1428750"/>
            <a:ext cx="44055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2105050" y="2238000"/>
            <a:ext cx="4933800" cy="81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fr-FR" dirty="0" err="1"/>
              <a:t>Keep</a:t>
            </a:r>
            <a:r>
              <a:rPr lang="fr-FR" dirty="0"/>
              <a:t> </a:t>
            </a:r>
            <a:r>
              <a:rPr lang="fr-FR" dirty="0" err="1">
                <a:highlight>
                  <a:srgbClr val="FFCD00"/>
                </a:highlight>
              </a:rPr>
              <a:t>rolling</a:t>
            </a:r>
            <a:r>
              <a:rPr lang="fr-FR" dirty="0">
                <a:highlight>
                  <a:srgbClr val="FFCD00"/>
                </a:highlight>
              </a:rPr>
              <a:t> </a:t>
            </a:r>
            <a:r>
              <a:rPr lang="fr-FR" dirty="0" err="1">
                <a:highlight>
                  <a:srgbClr val="FFCD00"/>
                </a:highlight>
              </a:rPr>
              <a:t>your</a:t>
            </a:r>
            <a:r>
              <a:rPr lang="fr-FR" dirty="0">
                <a:highlight>
                  <a:srgbClr val="FFCD00"/>
                </a:highlight>
              </a:rPr>
              <a:t> </a:t>
            </a:r>
            <a:r>
              <a:rPr lang="fr-FR" dirty="0" err="1">
                <a:highlight>
                  <a:srgbClr val="FFCD00"/>
                </a:highlight>
              </a:rPr>
              <a:t>eyes</a:t>
            </a:r>
            <a:r>
              <a:rPr lang="fr-FR" dirty="0"/>
              <a:t>, </a:t>
            </a:r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you’ll</a:t>
            </a:r>
            <a:r>
              <a:rPr lang="fr-FR" dirty="0"/>
              <a:t> </a:t>
            </a:r>
            <a:r>
              <a:rPr lang="fr-FR" dirty="0" err="1"/>
              <a:t>find</a:t>
            </a:r>
            <a:r>
              <a:rPr lang="fr-FR" dirty="0"/>
              <a:t> a </a:t>
            </a:r>
            <a:r>
              <a:rPr lang="fr-FR" dirty="0" err="1">
                <a:highlight>
                  <a:srgbClr val="FFCD00"/>
                </a:highlight>
              </a:rPr>
              <a:t>brain</a:t>
            </a:r>
            <a:r>
              <a:rPr lang="en" dirty="0"/>
              <a:t> </a:t>
            </a:r>
            <a:r>
              <a:rPr lang="fr-FR" dirty="0"/>
              <a:t>back </a:t>
            </a:r>
            <a:r>
              <a:rPr lang="fr-FR" dirty="0" err="1"/>
              <a:t>there</a:t>
            </a:r>
            <a:r>
              <a:rPr lang="en" dirty="0"/>
              <a:t>.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4297650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dirty="0" err="1">
                <a:highlight>
                  <a:srgbClr val="FFCD00"/>
                </a:highlight>
              </a:rPr>
              <a:t>Skills</a:t>
            </a:r>
            <a:endParaRPr lang="fr-FR" b="1" dirty="0">
              <a:highlight>
                <a:srgbClr val="FFCD00"/>
              </a:highlight>
            </a:endParaRPr>
          </a:p>
          <a:p>
            <a:pPr marL="342900" indent="-342900"/>
            <a:r>
              <a:rPr lang="fr-FR" dirty="0" err="1"/>
              <a:t>Being</a:t>
            </a:r>
            <a:r>
              <a:rPr lang="fr-FR" dirty="0"/>
              <a:t> able to </a:t>
            </a:r>
            <a:r>
              <a:rPr lang="fr-FR" dirty="0" err="1">
                <a:highlight>
                  <a:srgbClr val="FFCD00"/>
                </a:highlight>
              </a:rPr>
              <a:t>identify</a:t>
            </a:r>
            <a:r>
              <a:rPr lang="fr-FR" dirty="0"/>
              <a:t> a </a:t>
            </a:r>
            <a:r>
              <a:rPr lang="fr-FR" dirty="0" err="1"/>
              <a:t>recommendation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 and propose a </a:t>
            </a:r>
            <a:r>
              <a:rPr lang="fr-FR" dirty="0">
                <a:highlight>
                  <a:srgbClr val="FFCD00"/>
                </a:highlight>
              </a:rPr>
              <a:t>non-trivial</a:t>
            </a:r>
            <a:r>
              <a:rPr lang="fr-FR" dirty="0"/>
              <a:t> </a:t>
            </a:r>
            <a:r>
              <a:rPr lang="fr-FR" dirty="0" err="1"/>
              <a:t>way</a:t>
            </a:r>
            <a:r>
              <a:rPr lang="fr-FR" dirty="0"/>
              <a:t> to solve </a:t>
            </a:r>
            <a:r>
              <a:rPr lang="fr-FR" dirty="0" err="1"/>
              <a:t>it</a:t>
            </a:r>
            <a:endParaRPr lang="fr-FR" dirty="0"/>
          </a:p>
          <a:p>
            <a:pPr marL="342900" indent="-342900"/>
            <a:r>
              <a:rPr lang="fr-FR" dirty="0"/>
              <a:t>Apply </a:t>
            </a:r>
            <a:r>
              <a:rPr lang="fr-FR" dirty="0" err="1">
                <a:highlight>
                  <a:srgbClr val="FFCD00"/>
                </a:highlight>
              </a:rPr>
              <a:t>research</a:t>
            </a:r>
            <a:r>
              <a:rPr lang="fr-FR" dirty="0">
                <a:highlight>
                  <a:srgbClr val="FFCD00"/>
                </a:highlight>
              </a:rPr>
              <a:t>-grade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to real data</a:t>
            </a:r>
          </a:p>
          <a:p>
            <a:pPr marL="342900" indent="-342900"/>
            <a:r>
              <a:rPr lang="fr-FR" dirty="0"/>
              <a:t>There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>
                <a:highlight>
                  <a:srgbClr val="FFCD00"/>
                </a:highlight>
              </a:rPr>
              <a:t>maths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>
                <a:highlight>
                  <a:srgbClr val="FFCD00"/>
                </a:highlight>
              </a:rPr>
              <a:t>Objectives</a:t>
            </a:r>
            <a:r>
              <a:rPr lang="en" dirty="0"/>
              <a:t> o</a:t>
            </a:r>
            <a:r>
              <a:rPr lang="fr-FR" dirty="0"/>
              <a:t>f the course</a:t>
            </a:r>
            <a:endParaRPr dirty="0"/>
          </a:p>
        </p:txBody>
      </p:sp>
      <p:sp>
        <p:nvSpPr>
          <p:cNvPr id="159" name="Google Shape;159;p19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dirty="0" err="1">
                <a:highlight>
                  <a:srgbClr val="FFCD00"/>
                </a:highlight>
              </a:rPr>
              <a:t>Philosophy</a:t>
            </a:r>
            <a:endParaRPr lang="fr-FR" b="1" dirty="0">
              <a:highlight>
                <a:srgbClr val="FFCD00"/>
              </a:highlight>
            </a:endParaRPr>
          </a:p>
          <a:p>
            <a:pPr marL="342900" indent="-342900"/>
            <a:r>
              <a:rPr lang="fr-FR" dirty="0" err="1"/>
              <a:t>Bring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brain</a:t>
            </a:r>
            <a:endParaRPr lang="fr-FR" dirty="0"/>
          </a:p>
          <a:p>
            <a:pPr marL="342900" indent="-342900"/>
            <a:r>
              <a:rPr lang="fr-FR" dirty="0"/>
              <a:t>All courses </a:t>
            </a:r>
            <a:r>
              <a:rPr lang="fr-FR" dirty="0" err="1"/>
              <a:t>available</a:t>
            </a:r>
            <a:endParaRPr lang="fr-FR" dirty="0"/>
          </a:p>
          <a:p>
            <a:pPr marL="342900" indent="-342900"/>
            <a:r>
              <a:rPr lang="fr-FR" dirty="0"/>
              <a:t>Extra-mile </a:t>
            </a:r>
            <a:r>
              <a:rPr lang="fr-FR" dirty="0" err="1"/>
              <a:t>principle</a:t>
            </a:r>
            <a:endParaRPr lang="fr-FR" dirty="0"/>
          </a:p>
        </p:txBody>
      </p:sp>
      <p:grpSp>
        <p:nvGrpSpPr>
          <p:cNvPr id="160" name="Google Shape;160;p1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61" name="Google Shape;161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104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>
            <a:spLocks noGrp="1"/>
          </p:cNvSpPr>
          <p:nvPr>
            <p:ph type="body" idx="1"/>
          </p:nvPr>
        </p:nvSpPr>
        <p:spPr>
          <a:xfrm>
            <a:off x="1381250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dirty="0">
                <a:highlight>
                  <a:srgbClr val="FFCD00"/>
                </a:highlight>
              </a:rPr>
              <a:t>S4</a:t>
            </a:r>
          </a:p>
          <a:p>
            <a:pPr marL="342900" indent="-342900"/>
            <a:r>
              <a:rPr lang="fr-FR" dirty="0">
                <a:highlight>
                  <a:srgbClr val="FFCD00"/>
                </a:highlight>
              </a:rPr>
              <a:t>Common </a:t>
            </a:r>
            <a:r>
              <a:rPr lang="fr-FR" dirty="0" err="1">
                <a:highlight>
                  <a:srgbClr val="FFCD00"/>
                </a:highlight>
              </a:rPr>
              <a:t>knowledge</a:t>
            </a:r>
            <a:r>
              <a:rPr lang="fr-FR" dirty="0">
                <a:highlight>
                  <a:srgbClr val="FFCD00"/>
                </a:highlight>
              </a:rPr>
              <a:t> </a:t>
            </a:r>
            <a:r>
              <a:rPr lang="fr-FR" dirty="0"/>
              <a:t>about </a:t>
            </a:r>
            <a:r>
              <a:rPr lang="fr-FR" dirty="0" err="1"/>
              <a:t>recommenders</a:t>
            </a:r>
            <a:endParaRPr lang="fr-FR" dirty="0"/>
          </a:p>
          <a:p>
            <a:pPr marL="342900" indent="-342900"/>
            <a:r>
              <a:rPr lang="fr-FR" dirty="0">
                <a:highlight>
                  <a:srgbClr val="FFCD00"/>
                </a:highlight>
              </a:rPr>
              <a:t>Basic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, </a:t>
            </a:r>
            <a:r>
              <a:rPr lang="fr-FR" dirty="0" err="1"/>
              <a:t>methods</a:t>
            </a:r>
            <a:r>
              <a:rPr lang="fr-FR" dirty="0"/>
              <a:t>, and </a:t>
            </a:r>
            <a:r>
              <a:rPr lang="fr-FR" dirty="0" err="1"/>
              <a:t>metrics</a:t>
            </a:r>
            <a:endParaRPr lang="fr-FR" dirty="0"/>
          </a:p>
          <a:p>
            <a:pPr marL="342900" indent="-342900"/>
            <a:r>
              <a:rPr lang="fr-FR" dirty="0"/>
              <a:t>Evaluation: 4 </a:t>
            </a:r>
            <a:r>
              <a:rPr lang="fr-FR" dirty="0" err="1"/>
              <a:t>practical</a:t>
            </a:r>
            <a:r>
              <a:rPr lang="fr-FR" dirty="0"/>
              <a:t> sessions</a:t>
            </a:r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>
                <a:highlight>
                  <a:srgbClr val="FFCD00"/>
                </a:highlight>
              </a:rPr>
              <a:t>Planning</a:t>
            </a:r>
            <a:r>
              <a:rPr lang="en" dirty="0"/>
              <a:t> o</a:t>
            </a:r>
            <a:r>
              <a:rPr lang="fr-FR" dirty="0"/>
              <a:t>f the course</a:t>
            </a:r>
            <a:endParaRPr dirty="0"/>
          </a:p>
        </p:txBody>
      </p:sp>
      <p:sp>
        <p:nvSpPr>
          <p:cNvPr id="159" name="Google Shape;159;p19"/>
          <p:cNvSpPr txBox="1">
            <a:spLocks noGrp="1"/>
          </p:cNvSpPr>
          <p:nvPr>
            <p:ph type="body" idx="2"/>
          </p:nvPr>
        </p:nvSpPr>
        <p:spPr>
          <a:xfrm>
            <a:off x="5012916" y="1618700"/>
            <a:ext cx="3425400" cy="32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dirty="0">
                <a:highlight>
                  <a:srgbClr val="FFCD00"/>
                </a:highlight>
              </a:rPr>
              <a:t>S5</a:t>
            </a:r>
          </a:p>
          <a:p>
            <a:pPr marL="342900" indent="-342900"/>
            <a:r>
              <a:rPr lang="fr-FR" dirty="0">
                <a:highlight>
                  <a:srgbClr val="FFCD00"/>
                </a:highlight>
              </a:rPr>
              <a:t>Advanced </a:t>
            </a:r>
            <a:r>
              <a:rPr lang="fr-FR" dirty="0" err="1">
                <a:highlight>
                  <a:srgbClr val="FFCD00"/>
                </a:highlight>
              </a:rPr>
              <a:t>knowledge</a:t>
            </a:r>
            <a:r>
              <a:rPr lang="fr-FR" dirty="0"/>
              <a:t> about </a:t>
            </a:r>
            <a:r>
              <a:rPr lang="fr-FR" dirty="0" err="1"/>
              <a:t>resommenders</a:t>
            </a:r>
            <a:endParaRPr lang="fr-FR" dirty="0"/>
          </a:p>
          <a:p>
            <a:pPr marL="342900" indent="-342900"/>
            <a:r>
              <a:rPr lang="fr-FR" dirty="0" err="1">
                <a:highlight>
                  <a:srgbClr val="FFCD00"/>
                </a:highlight>
              </a:rPr>
              <a:t>Review</a:t>
            </a:r>
            <a:r>
              <a:rPr lang="fr-FR" dirty="0">
                <a:highlight>
                  <a:srgbClr val="FFCD00"/>
                </a:highlight>
              </a:rPr>
              <a:t> and </a:t>
            </a:r>
            <a:r>
              <a:rPr lang="fr-FR" dirty="0" err="1">
                <a:highlight>
                  <a:srgbClr val="FFCD00"/>
                </a:highlight>
              </a:rPr>
              <a:t>implementation</a:t>
            </a:r>
            <a:r>
              <a:rPr lang="fr-FR" dirty="0"/>
              <a:t> of </a:t>
            </a:r>
            <a:r>
              <a:rPr lang="fr-FR" dirty="0" err="1"/>
              <a:t>recent</a:t>
            </a:r>
            <a:r>
              <a:rPr lang="fr-FR" dirty="0"/>
              <a:t> </a:t>
            </a:r>
            <a:r>
              <a:rPr lang="fr-FR" dirty="0" err="1"/>
              <a:t>work</a:t>
            </a:r>
            <a:endParaRPr lang="fr-FR" dirty="0"/>
          </a:p>
          <a:p>
            <a:pPr marL="342900" indent="-342900"/>
            <a:r>
              <a:rPr lang="fr-FR" dirty="0"/>
              <a:t>Evaluation: 1 </a:t>
            </a:r>
            <a:r>
              <a:rPr lang="fr-FR" dirty="0" err="1"/>
              <a:t>project</a:t>
            </a:r>
            <a:endParaRPr lang="fr-FR" dirty="0"/>
          </a:p>
        </p:txBody>
      </p:sp>
      <p:grpSp>
        <p:nvGrpSpPr>
          <p:cNvPr id="160" name="Google Shape;160;p19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61" name="Google Shape;161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9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547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Recommender</a:t>
            </a:r>
            <a:r>
              <a:rPr lang="fr-FR" dirty="0"/>
              <a:t> </a:t>
            </a:r>
            <a:r>
              <a:rPr lang="fr-FR" dirty="0" err="1"/>
              <a:t>problems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 </a:t>
            </a:r>
            <a:r>
              <a:rPr lang="fr-FR" dirty="0" err="1"/>
              <a:t>sub-domain</a:t>
            </a:r>
            <a:r>
              <a:rPr lang="fr-FR" dirty="0"/>
              <a:t> of Machine Learning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Known</a:t>
            </a:r>
            <a:r>
              <a:rPr lang="fr-FR" dirty="0"/>
              <a:t> </a:t>
            </a:r>
            <a:r>
              <a:rPr lang="fr-FR" dirty="0" err="1"/>
              <a:t>recommendation</a:t>
            </a:r>
            <a:r>
              <a:rPr lang="en" dirty="0"/>
              <a:t> </a:t>
            </a:r>
            <a:r>
              <a:rPr lang="fr-FR" dirty="0" err="1">
                <a:highlight>
                  <a:srgbClr val="FFCD00"/>
                </a:highlight>
              </a:rPr>
              <a:t>problems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Netflix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Zalando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Spotify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Amazon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Coursera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ctrTitle" idx="4294967295"/>
          </p:nvPr>
        </p:nvSpPr>
        <p:spPr>
          <a:xfrm>
            <a:off x="1951575" y="2878750"/>
            <a:ext cx="5241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highlight>
                  <a:srgbClr val="FFCD00"/>
                </a:highlight>
              </a:rPr>
              <a:t>ML </a:t>
            </a:r>
            <a:r>
              <a:rPr lang="fr-FR" sz="4800" dirty="0" err="1">
                <a:highlight>
                  <a:srgbClr val="FFCD00"/>
                </a:highlight>
              </a:rPr>
              <a:t>sub-domain</a:t>
            </a:r>
            <a:endParaRPr sz="4800" dirty="0">
              <a:highlight>
                <a:srgbClr val="FFCD00"/>
              </a:highlight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subTitle" idx="4294967295"/>
          </p:nvPr>
        </p:nvSpPr>
        <p:spPr>
          <a:xfrm>
            <a:off x="1951575" y="3792555"/>
            <a:ext cx="5241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800" dirty="0"/>
              <a:t>How </a:t>
            </a:r>
            <a:r>
              <a:rPr lang="fr-FR" sz="1800" dirty="0" err="1"/>
              <a:t>would</a:t>
            </a:r>
            <a:r>
              <a:rPr lang="fr-FR" sz="1800" dirty="0"/>
              <a:t> ou </a:t>
            </a:r>
            <a:r>
              <a:rPr lang="fr-FR" sz="1800" dirty="0" err="1"/>
              <a:t>define</a:t>
            </a:r>
            <a:r>
              <a:rPr lang="fr-FR" sz="1800" dirty="0"/>
              <a:t> </a:t>
            </a:r>
            <a:r>
              <a:rPr lang="fr-FR" sz="1800" dirty="0" err="1"/>
              <a:t>it</a:t>
            </a:r>
            <a:r>
              <a:rPr lang="fr-FR" sz="1800" dirty="0"/>
              <a:t>?</a:t>
            </a:r>
            <a:endParaRPr sz="1800" dirty="0"/>
          </a:p>
        </p:txBody>
      </p:sp>
      <p:cxnSp>
        <p:nvCxnSpPr>
          <p:cNvPr id="138" name="Google Shape;138;p18"/>
          <p:cNvCxnSpPr/>
          <p:nvPr/>
        </p:nvCxnSpPr>
        <p:spPr>
          <a:xfrm>
            <a:off x="-6025" y="1668728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18"/>
          <p:cNvSpPr/>
          <p:nvPr/>
        </p:nvSpPr>
        <p:spPr>
          <a:xfrm>
            <a:off x="3470200" y="566931"/>
            <a:ext cx="2203500" cy="22035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Graphique 2" descr="Pièces de puzzle">
            <a:extLst>
              <a:ext uri="{FF2B5EF4-FFF2-40B4-BE49-F238E27FC236}">
                <a16:creationId xmlns:a16="http://schemas.microsoft.com/office/drawing/2014/main" id="{57D99C7A-70EC-4117-B568-E2727CB5B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1043" y="797774"/>
            <a:ext cx="1741814" cy="174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56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Recommenders</a:t>
            </a:r>
            <a:r>
              <a:rPr lang="fr-FR" dirty="0"/>
              <a:t> system</a:t>
            </a:r>
            <a:endParaRPr dirty="0"/>
          </a:p>
        </p:txBody>
      </p:sp>
      <p:sp>
        <p:nvSpPr>
          <p:cNvPr id="171" name="Google Shape;171;p20"/>
          <p:cNvSpPr txBox="1">
            <a:spLocks noGrp="1"/>
          </p:cNvSpPr>
          <p:nvPr>
            <p:ph type="body" idx="1"/>
          </p:nvPr>
        </p:nvSpPr>
        <p:spPr>
          <a:xfrm>
            <a:off x="1381250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dirty="0">
                <a:highlight>
                  <a:srgbClr val="FFCD00"/>
                </a:highlight>
              </a:rPr>
              <a:t>Data</a:t>
            </a:r>
          </a:p>
          <a:p>
            <a:pPr marL="285750" indent="-285750"/>
            <a:r>
              <a:rPr lang="en-US" dirty="0"/>
              <a:t>Type: Image</a:t>
            </a:r>
          </a:p>
          <a:p>
            <a:pPr marL="285750" indent="-285750"/>
            <a:r>
              <a:rPr lang="en-US" dirty="0"/>
              <a:t>Content: Music vs. Voice</a:t>
            </a:r>
          </a:p>
          <a:p>
            <a:pPr marL="285750" indent="-285750"/>
            <a:r>
              <a:rPr lang="en-US" dirty="0"/>
              <a:t>Characteristics: Sparsity, Noise…</a:t>
            </a:r>
          </a:p>
        </p:txBody>
      </p:sp>
      <p:sp>
        <p:nvSpPr>
          <p:cNvPr id="172" name="Google Shape;172;p20"/>
          <p:cNvSpPr txBox="1">
            <a:spLocks noGrp="1"/>
          </p:cNvSpPr>
          <p:nvPr>
            <p:ph type="body" idx="2"/>
          </p:nvPr>
        </p:nvSpPr>
        <p:spPr>
          <a:xfrm>
            <a:off x="3834912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dirty="0">
                <a:highlight>
                  <a:srgbClr val="FFCD00"/>
                </a:highlight>
              </a:rPr>
              <a:t>Objectives and </a:t>
            </a:r>
            <a:r>
              <a:rPr lang="fr-FR" b="1" dirty="0" err="1">
                <a:highlight>
                  <a:srgbClr val="FFCD00"/>
                </a:highlight>
              </a:rPr>
              <a:t>metrics</a:t>
            </a:r>
            <a:endParaRPr b="1" dirty="0">
              <a:highlight>
                <a:srgbClr val="FFCD00"/>
              </a:highlight>
            </a:endParaRPr>
          </a:p>
          <a:p>
            <a:pPr marL="285750" indent="-285750"/>
            <a:r>
              <a:rPr lang="fr-FR" dirty="0"/>
              <a:t>Image description</a:t>
            </a:r>
          </a:p>
          <a:p>
            <a:pPr marL="285750" indent="-285750"/>
            <a:r>
              <a:rPr lang="fr-FR" dirty="0"/>
              <a:t>Just an objective: </a:t>
            </a:r>
            <a:r>
              <a:rPr lang="fr-FR" dirty="0" err="1"/>
              <a:t>AlphaGo</a:t>
            </a:r>
            <a:endParaRPr lang="fr-FR" dirty="0"/>
          </a:p>
          <a:p>
            <a:pPr marL="285750" indent="-285750"/>
            <a:r>
              <a:rPr lang="fr-FR" dirty="0" err="1"/>
              <a:t>Sometimes</a:t>
            </a:r>
            <a:r>
              <a:rPr lang="fr-FR" dirty="0"/>
              <a:t> not 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measurable</a:t>
            </a:r>
            <a:endParaRPr dirty="0"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3"/>
          </p:nvPr>
        </p:nvSpPr>
        <p:spPr>
          <a:xfrm>
            <a:off x="6288573" y="1651075"/>
            <a:ext cx="2334000" cy="3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b="1" dirty="0" err="1">
                <a:highlight>
                  <a:srgbClr val="FFCD00"/>
                </a:highlight>
              </a:rPr>
              <a:t>Algorithms</a:t>
            </a:r>
            <a:endParaRPr b="1" dirty="0">
              <a:highlight>
                <a:srgbClr val="FFCD00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dirty="0"/>
              <a:t>A </a:t>
            </a:r>
            <a:r>
              <a:rPr lang="fr-FR" dirty="0" err="1"/>
              <a:t>domain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have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algorithms</a:t>
            </a:r>
            <a:r>
              <a:rPr lang="fr-FR" dirty="0"/>
              <a:t> but </a:t>
            </a:r>
            <a:r>
              <a:rPr lang="fr-FR" dirty="0" err="1"/>
              <a:t>most</a:t>
            </a:r>
            <a:r>
              <a:rPr lang="fr-FR" dirty="0"/>
              <a:t> of the time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matter</a:t>
            </a:r>
            <a:r>
              <a:rPr lang="fr-FR" dirty="0"/>
              <a:t> of </a:t>
            </a:r>
            <a:r>
              <a:rPr lang="fr-FR" dirty="0" err="1"/>
              <a:t>adapting</a:t>
            </a:r>
            <a:r>
              <a:rPr lang="fr-FR" dirty="0"/>
              <a:t> </a:t>
            </a:r>
            <a:r>
              <a:rPr lang="fr-FR" dirty="0" err="1"/>
              <a:t>existing</a:t>
            </a:r>
            <a:r>
              <a:rPr lang="fr-FR" dirty="0"/>
              <a:t> </a:t>
            </a:r>
            <a:r>
              <a:rPr lang="fr-FR" dirty="0" err="1"/>
              <a:t>ones</a:t>
            </a:r>
            <a:r>
              <a:rPr lang="fr-FR" dirty="0"/>
              <a:t>.</a:t>
            </a:r>
            <a:r>
              <a:rPr lang="en" dirty="0"/>
              <a:t>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4" name="Google Shape;174;p20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75" name="Google Shape;175;p20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Recommendation</a:t>
            </a:r>
            <a:r>
              <a:rPr lang="fr-FR" dirty="0"/>
              <a:t> data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Characteristics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31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ighlight>
                  <a:srgbClr val="FFCD00"/>
                </a:highlight>
              </a:rPr>
              <a:t>Data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 err="1"/>
              <a:t>Sparse</a:t>
            </a:r>
            <a:r>
              <a:rPr lang="fr-FR" dirty="0"/>
              <a:t> – Data </a:t>
            </a:r>
            <a:r>
              <a:rPr lang="fr-FR" dirty="0" err="1"/>
              <a:t>density</a:t>
            </a:r>
            <a:endParaRPr lang="fr-FR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Long </a:t>
            </a:r>
            <a:r>
              <a:rPr lang="fr-FR" dirty="0" err="1"/>
              <a:t>tail</a:t>
            </a:r>
            <a:r>
              <a:rPr lang="fr-FR" dirty="0"/>
              <a:t> – Pareto </a:t>
            </a:r>
            <a:r>
              <a:rPr lang="fr-FR" dirty="0" err="1"/>
              <a:t>principle</a:t>
            </a:r>
            <a:endParaRPr lang="fr-FR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Noisy</a:t>
            </a: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471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ighlight>
                  <a:srgbClr val="FFCD00"/>
                </a:highlight>
              </a:rPr>
              <a:t>Example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3461657"/>
            <a:ext cx="6809700" cy="12670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fr-FR" dirty="0"/>
              <a:t>Can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guess</a:t>
            </a:r>
            <a:r>
              <a:rPr lang="fr-FR" dirty="0"/>
              <a:t> if Eddy </a:t>
            </a:r>
            <a:r>
              <a:rPr lang="fr-FR" dirty="0" err="1"/>
              <a:t>will</a:t>
            </a:r>
            <a:r>
              <a:rPr lang="fr-FR" dirty="0"/>
              <a:t> like the </a:t>
            </a:r>
            <a:r>
              <a:rPr lang="fr-FR" dirty="0" err="1"/>
              <a:t>movie</a:t>
            </a:r>
            <a:r>
              <a:rPr lang="fr-FR" dirty="0"/>
              <a:t> or not?</a:t>
            </a: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761EC1D-3020-4F63-AA1C-068446637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614981"/>
              </p:ext>
            </p:extLst>
          </p:nvPr>
        </p:nvGraphicFramePr>
        <p:xfrm>
          <a:off x="1738100" y="1616470"/>
          <a:ext cx="6096000" cy="1462010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830929">
                  <a:extLst>
                    <a:ext uri="{9D8B030D-6E8A-4147-A177-3AD203B41FA5}">
                      <a16:colId xmlns:a16="http://schemas.microsoft.com/office/drawing/2014/main" val="4022207320"/>
                    </a:ext>
                  </a:extLst>
                </a:gridCol>
                <a:gridCol w="1553028">
                  <a:extLst>
                    <a:ext uri="{9D8B030D-6E8A-4147-A177-3AD203B41FA5}">
                      <a16:colId xmlns:a16="http://schemas.microsoft.com/office/drawing/2014/main" val="383808716"/>
                    </a:ext>
                  </a:extLst>
                </a:gridCol>
                <a:gridCol w="2188043">
                  <a:extLst>
                    <a:ext uri="{9D8B030D-6E8A-4147-A177-3AD203B41FA5}">
                      <a16:colId xmlns:a16="http://schemas.microsoft.com/office/drawing/2014/main" val="39073277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41608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Inception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Now</a:t>
                      </a:r>
                      <a:r>
                        <a:rPr lang="fr-FR" dirty="0"/>
                        <a:t> you </a:t>
                      </a:r>
                      <a:r>
                        <a:rPr lang="fr-FR" dirty="0" err="1"/>
                        <a:t>see</a:t>
                      </a:r>
                      <a:r>
                        <a:rPr lang="fr-FR" dirty="0"/>
                        <a:t>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Titanic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411728"/>
                  </a:ext>
                </a:extLst>
              </a:tr>
              <a:tr h="349490">
                <a:tc>
                  <a:txBody>
                    <a:bodyPr/>
                    <a:lstStyle/>
                    <a:p>
                      <a:r>
                        <a:rPr lang="fr-FR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👍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👍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👎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910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Marie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👎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👍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54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👍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827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825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highlight>
                  <a:srgbClr val="FFCD00"/>
                </a:highlight>
              </a:rPr>
              <a:t>Famous</a:t>
            </a:r>
            <a:r>
              <a:rPr lang="fr-FR" dirty="0">
                <a:highlight>
                  <a:srgbClr val="FFCD00"/>
                </a:highlight>
              </a:rPr>
              <a:t> public </a:t>
            </a:r>
            <a:r>
              <a:rPr lang="fr-FR" dirty="0" err="1">
                <a:highlight>
                  <a:srgbClr val="FFCD00"/>
                </a:highlight>
              </a:rPr>
              <a:t>datasets</a:t>
            </a:r>
            <a:endParaRPr dirty="0">
              <a:highlight>
                <a:srgbClr val="FFCD00"/>
              </a:highlight>
            </a:endParaRP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038F441-66B7-49AE-85E2-7BF83E51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995288"/>
              </p:ext>
            </p:extLst>
          </p:nvPr>
        </p:nvGraphicFramePr>
        <p:xfrm>
          <a:off x="1131082" y="1616075"/>
          <a:ext cx="6808230" cy="3113087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1134705">
                  <a:extLst>
                    <a:ext uri="{9D8B030D-6E8A-4147-A177-3AD203B41FA5}">
                      <a16:colId xmlns:a16="http://schemas.microsoft.com/office/drawing/2014/main" val="3658820985"/>
                    </a:ext>
                  </a:extLst>
                </a:gridCol>
                <a:gridCol w="1134705">
                  <a:extLst>
                    <a:ext uri="{9D8B030D-6E8A-4147-A177-3AD203B41FA5}">
                      <a16:colId xmlns:a16="http://schemas.microsoft.com/office/drawing/2014/main" val="1400926640"/>
                    </a:ext>
                  </a:extLst>
                </a:gridCol>
                <a:gridCol w="1134705">
                  <a:extLst>
                    <a:ext uri="{9D8B030D-6E8A-4147-A177-3AD203B41FA5}">
                      <a16:colId xmlns:a16="http://schemas.microsoft.com/office/drawing/2014/main" val="901255300"/>
                    </a:ext>
                  </a:extLst>
                </a:gridCol>
                <a:gridCol w="1134705">
                  <a:extLst>
                    <a:ext uri="{9D8B030D-6E8A-4147-A177-3AD203B41FA5}">
                      <a16:colId xmlns:a16="http://schemas.microsoft.com/office/drawing/2014/main" val="1154144992"/>
                    </a:ext>
                  </a:extLst>
                </a:gridCol>
                <a:gridCol w="1134705">
                  <a:extLst>
                    <a:ext uri="{9D8B030D-6E8A-4147-A177-3AD203B41FA5}">
                      <a16:colId xmlns:a16="http://schemas.microsoft.com/office/drawing/2014/main" val="2602890342"/>
                    </a:ext>
                  </a:extLst>
                </a:gridCol>
                <a:gridCol w="1134705">
                  <a:extLst>
                    <a:ext uri="{9D8B030D-6E8A-4147-A177-3AD203B41FA5}">
                      <a16:colId xmlns:a16="http://schemas.microsoft.com/office/drawing/2014/main" val="99984450"/>
                    </a:ext>
                  </a:extLst>
                </a:gridCol>
              </a:tblGrid>
              <a:tr h="208356">
                <a:tc>
                  <a:txBody>
                    <a:bodyPr/>
                    <a:lstStyle/>
                    <a:p>
                      <a:pPr algn="l"/>
                      <a:r>
                        <a:rPr lang="fr-FR" sz="1100" dirty="0" err="1">
                          <a:effectLst/>
                        </a:rPr>
                        <a:t>Dataset</a:t>
                      </a:r>
                      <a:endParaRPr lang="fr-FR" sz="1100" dirty="0">
                        <a:effectLst/>
                      </a:endParaRP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 err="1">
                          <a:effectLst/>
                        </a:rPr>
                        <a:t>Users</a:t>
                      </a:r>
                      <a:endParaRPr lang="fr-FR" sz="1100" dirty="0">
                        <a:effectLst/>
                      </a:endParaRP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>
                          <a:effectLst/>
                        </a:rPr>
                        <a:t>Items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>
                          <a:effectLst/>
                        </a:rPr>
                        <a:t>Ratings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>
                          <a:effectLst/>
                        </a:rPr>
                        <a:t>Density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>
                          <a:effectLst/>
                        </a:rPr>
                        <a:t>Rating Scale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2900805733"/>
                  </a:ext>
                </a:extLst>
              </a:tr>
              <a:tr h="379944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Movielens 1M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6040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3883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1,000,209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4.26%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[1-5]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2308325387"/>
                  </a:ext>
                </a:extLst>
              </a:tr>
              <a:tr h="379944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Movielens 10M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69,878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10,681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10,000,054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1.33%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[0.5-5]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2079703948"/>
                  </a:ext>
                </a:extLst>
              </a:tr>
              <a:tr h="379944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Movielens 20M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138,493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27,278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20,000,263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0.52%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[0.5-5]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227944664"/>
                  </a:ext>
                </a:extLst>
              </a:tr>
              <a:tr h="208356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Jester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124,113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150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5,865,235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31.50%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[-10, 10]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494157419"/>
                  </a:ext>
                </a:extLst>
              </a:tr>
              <a:tr h="379944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Book-Crossing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92,107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271,379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1,031,175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0.0041%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[1, 10], and implicit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1385202184"/>
                  </a:ext>
                </a:extLst>
              </a:tr>
              <a:tr h="208356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Last.fm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1892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17632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92,834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0.28%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Play Counts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1298722272"/>
                  </a:ext>
                </a:extLst>
              </a:tr>
              <a:tr h="208356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Wikipedia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5,583,724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4,936,761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417,996,366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0.0015%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Interactions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1807112036"/>
                  </a:ext>
                </a:extLst>
              </a:tr>
              <a:tr h="551531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OpenStreetMap (Azerbaijan)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231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108,330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205,774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0.82%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Interactions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3849272443"/>
                  </a:ext>
                </a:extLst>
              </a:tr>
              <a:tr h="208356"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Git (Django)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790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1757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13,165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effectLst/>
                        </a:rPr>
                        <a:t>0.95%</a:t>
                      </a:r>
                    </a:p>
                  </a:txBody>
                  <a:tcPr marL="18384" marR="18384" marT="18384" marB="18384" anchor="ctr"/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Interactions</a:t>
                      </a:r>
                    </a:p>
                  </a:txBody>
                  <a:tcPr marL="18384" marR="18384" marT="18384" marB="18384" anchor="ctr"/>
                </a:tc>
                <a:extLst>
                  <a:ext uri="{0D108BD9-81ED-4DB2-BD59-A6C34878D82A}">
                    <a16:rowId xmlns:a16="http://schemas.microsoft.com/office/drawing/2014/main" val="804109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86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ighlight>
                  <a:srgbClr val="FFCD00"/>
                </a:highlight>
              </a:rPr>
              <a:t>A </a:t>
            </a:r>
            <a:r>
              <a:rPr lang="fr-FR" dirty="0" err="1">
                <a:highlight>
                  <a:srgbClr val="FFCD00"/>
                </a:highlight>
              </a:rPr>
              <a:t>closer</a:t>
            </a:r>
            <a:r>
              <a:rPr lang="fr-FR" dirty="0">
                <a:highlight>
                  <a:srgbClr val="FFCD00"/>
                </a:highlight>
              </a:rPr>
              <a:t> look to the </a:t>
            </a:r>
            <a:r>
              <a:rPr lang="fr-FR" dirty="0" err="1">
                <a:highlight>
                  <a:srgbClr val="FFCD00"/>
                </a:highlight>
              </a:rPr>
              <a:t>MovieLens</a:t>
            </a:r>
            <a:r>
              <a:rPr lang="fr-FR" dirty="0">
                <a:highlight>
                  <a:srgbClr val="FFCD00"/>
                </a:highlight>
              </a:rPr>
              <a:t> 100k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648A0246-8478-42F4-BC2C-DF548CE6D9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53" t="9884" r="8457" b="792"/>
          <a:stretch/>
        </p:blipFill>
        <p:spPr>
          <a:xfrm>
            <a:off x="667658" y="1692690"/>
            <a:ext cx="3873255" cy="289809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0A7ED98-47CA-4257-8291-C95E97011D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87" t="10063" r="7921" b="1489"/>
          <a:stretch/>
        </p:blipFill>
        <p:spPr>
          <a:xfrm>
            <a:off x="4934929" y="1692689"/>
            <a:ext cx="3955783" cy="289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70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Recommendation</a:t>
            </a:r>
            <a:r>
              <a:rPr lang="fr-FR" dirty="0"/>
              <a:t> </a:t>
            </a:r>
            <a:r>
              <a:rPr lang="fr-FR" dirty="0" err="1"/>
              <a:t>metrics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Measuring</a:t>
            </a:r>
            <a:r>
              <a:rPr lang="fr-FR" dirty="0"/>
              <a:t> the performance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algorithm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3112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ighlight>
                  <a:srgbClr val="FFCD00"/>
                </a:highlight>
              </a:rPr>
              <a:t>Objectives and </a:t>
            </a:r>
            <a:r>
              <a:rPr lang="fr-FR" dirty="0" err="1">
                <a:highlight>
                  <a:srgbClr val="FFCD00"/>
                </a:highlight>
              </a:rPr>
              <a:t>metrics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 err="1"/>
              <a:t>Task</a:t>
            </a:r>
            <a:r>
              <a:rPr lang="fr-FR" dirty="0"/>
              <a:t> type</a:t>
            </a:r>
          </a:p>
          <a:p>
            <a:pPr lvl="1"/>
            <a:r>
              <a:rPr lang="fr-FR" dirty="0" err="1"/>
              <a:t>Recommending</a:t>
            </a:r>
            <a:r>
              <a:rPr lang="fr-FR" dirty="0"/>
              <a:t> items – top-k </a:t>
            </a:r>
            <a:r>
              <a:rPr lang="fr-FR" dirty="0" err="1"/>
              <a:t>selection</a:t>
            </a:r>
            <a:endParaRPr lang="fr-FR" dirty="0"/>
          </a:p>
          <a:p>
            <a:pPr lvl="1"/>
            <a:r>
              <a:rPr lang="fr-FR" dirty="0" err="1"/>
              <a:t>Estimating</a:t>
            </a:r>
            <a:r>
              <a:rPr lang="fr-FR" dirty="0"/>
              <a:t> </a:t>
            </a:r>
            <a:r>
              <a:rPr lang="fr-FR" dirty="0" err="1"/>
              <a:t>affinity</a:t>
            </a:r>
            <a:r>
              <a:rPr lang="fr-FR" dirty="0"/>
              <a:t> – classification/</a:t>
            </a:r>
            <a:r>
              <a:rPr lang="fr-FR" dirty="0" err="1"/>
              <a:t>regression</a:t>
            </a:r>
            <a:endParaRPr lang="fr-FR" dirty="0"/>
          </a:p>
          <a:p>
            <a:r>
              <a:rPr lang="fr-FR" dirty="0"/>
              <a:t>Human feedback</a:t>
            </a:r>
          </a:p>
          <a:p>
            <a:pPr lvl="1"/>
            <a:r>
              <a:rPr lang="fr-FR" dirty="0"/>
              <a:t>Not </a:t>
            </a:r>
            <a:r>
              <a:rPr lang="fr-FR" dirty="0" err="1"/>
              <a:t>precise</a:t>
            </a:r>
            <a:endParaRPr lang="fr-FR" dirty="0"/>
          </a:p>
          <a:p>
            <a:pPr lvl="1"/>
            <a:r>
              <a:rPr lang="fr-FR" dirty="0" err="1"/>
              <a:t>Biased</a:t>
            </a:r>
            <a:r>
              <a:rPr lang="fr-FR" dirty="0"/>
              <a:t> by the </a:t>
            </a:r>
            <a:r>
              <a:rPr lang="fr-FR" dirty="0" err="1"/>
              <a:t>current</a:t>
            </a:r>
            <a:r>
              <a:rPr lang="fr-FR" dirty="0"/>
              <a:t> system</a:t>
            </a:r>
          </a:p>
          <a:p>
            <a:r>
              <a:rPr lang="fr-FR" dirty="0"/>
              <a:t>Mixed objectives</a:t>
            </a:r>
          </a:p>
          <a:p>
            <a:pPr lvl="1"/>
            <a:r>
              <a:rPr lang="fr-FR" dirty="0"/>
              <a:t>User satisfaction vs. Client </a:t>
            </a:r>
            <a:r>
              <a:rPr lang="fr-FR" dirty="0" err="1"/>
              <a:t>benefits</a:t>
            </a:r>
            <a:endParaRPr lang="fr-FR" dirty="0"/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7721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highlight>
                  <a:srgbClr val="FFCD00"/>
                </a:highlight>
              </a:rPr>
              <a:t>Accuracy</a:t>
            </a:r>
            <a:r>
              <a:rPr lang="fr-FR" dirty="0">
                <a:highlight>
                  <a:srgbClr val="FFCD00"/>
                </a:highlight>
              </a:rPr>
              <a:t> / </a:t>
            </a:r>
            <a:r>
              <a:rPr lang="fr-FR" dirty="0" err="1">
                <a:highlight>
                  <a:srgbClr val="FFCD00"/>
                </a:highlight>
              </a:rPr>
              <a:t>Error</a:t>
            </a:r>
            <a:endParaRPr dirty="0">
              <a:highlight>
                <a:srgbClr val="FFCD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Google Shape;125;p1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81000" algn="l" rtl="0">
                  <a:spcBef>
                    <a:spcPts val="600"/>
                  </a:spcBef>
                  <a:spcAft>
                    <a:spcPts val="0"/>
                  </a:spcAft>
                  <a:buSzPts val="2400"/>
                  <a:buChar char="◉"/>
                </a:pPr>
                <a:r>
                  <a:rPr lang="fr-FR" dirty="0"/>
                  <a:t>For classification: </a:t>
                </a:r>
                <a:r>
                  <a:rPr lang="fr-FR" dirty="0" err="1"/>
                  <a:t>Accuracy</a:t>
                </a:r>
                <a:endParaRPr lang="fr-FR" dirty="0"/>
              </a:p>
              <a:p>
                <a:r>
                  <a:rPr lang="fr-FR" dirty="0"/>
                  <a:t>For </a:t>
                </a:r>
                <a:r>
                  <a:rPr lang="fr-FR" dirty="0" err="1"/>
                  <a:t>regression</a:t>
                </a:r>
                <a:endParaRPr lang="fr-FR" dirty="0"/>
              </a:p>
              <a:p>
                <a:pPr lvl="1"/>
                <a:r>
                  <a:rPr lang="fr-FR" dirty="0" err="1"/>
                  <a:t>Mean</a:t>
                </a:r>
                <a:r>
                  <a:rPr lang="fr-FR" dirty="0"/>
                  <a:t> </a:t>
                </a:r>
                <a:r>
                  <a:rPr lang="fr-FR" dirty="0" err="1"/>
                  <a:t>Absolute</a:t>
                </a:r>
                <a:r>
                  <a:rPr lang="fr-FR" dirty="0"/>
                  <a:t> </a:t>
                </a:r>
                <a:r>
                  <a:rPr lang="fr-FR" dirty="0" err="1"/>
                  <a:t>Error</a:t>
                </a:r>
                <a:r>
                  <a:rPr lang="fr-FR" dirty="0"/>
                  <a:t> (MAE)</a:t>
                </a:r>
                <a:br>
                  <a:rPr lang="fr-FR" dirty="0"/>
                </a:b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ŷ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fr-FR" dirty="0"/>
              </a:p>
              <a:p>
                <a:pPr lvl="1"/>
                <a:r>
                  <a:rPr lang="fr-FR" dirty="0" err="1"/>
                  <a:t>Mean</a:t>
                </a:r>
                <a:r>
                  <a:rPr lang="fr-FR" dirty="0"/>
                  <a:t> </a:t>
                </a:r>
                <a:r>
                  <a:rPr lang="fr-FR" dirty="0" err="1"/>
                  <a:t>Squared</a:t>
                </a:r>
                <a:r>
                  <a:rPr lang="fr-FR" dirty="0"/>
                  <a:t> </a:t>
                </a:r>
                <a:r>
                  <a:rPr lang="fr-FR" dirty="0" err="1"/>
                  <a:t>Error</a:t>
                </a:r>
                <a:r>
                  <a:rPr lang="fr-FR" dirty="0"/>
                  <a:t> (MSE)</a:t>
                </a:r>
                <a:br>
                  <a:rPr lang="fr-FR" dirty="0"/>
                </a:b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ŷ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Root </a:t>
                </a:r>
                <a:r>
                  <a:rPr lang="fr-FR" dirty="0" err="1"/>
                  <a:t>Mean</a:t>
                </a:r>
                <a:r>
                  <a:rPr lang="fr-FR" dirty="0"/>
                  <a:t> </a:t>
                </a:r>
                <a:r>
                  <a:rPr lang="fr-FR" dirty="0" err="1"/>
                  <a:t>Squared</a:t>
                </a:r>
                <a:r>
                  <a:rPr lang="fr-FR" dirty="0"/>
                  <a:t> </a:t>
                </a:r>
                <a:r>
                  <a:rPr lang="fr-FR" dirty="0" err="1"/>
                  <a:t>Error</a:t>
                </a:r>
                <a:r>
                  <a:rPr lang="fr-FR" dirty="0"/>
                  <a:t> (RMSE)</a:t>
                </a:r>
              </a:p>
            </p:txBody>
          </p:sp>
        </mc:Choice>
        <mc:Fallback>
          <p:sp>
            <p:nvSpPr>
              <p:cNvPr id="125" name="Google Shape;125;p1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  <a:blipFill>
                <a:blip r:embed="rId3"/>
                <a:stretch>
                  <a:fillRect l="-179" b="-66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8713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highlight>
                  <a:srgbClr val="FFCD00"/>
                </a:highlight>
              </a:rPr>
              <a:t>Precision</a:t>
            </a:r>
            <a:r>
              <a:rPr lang="fr-FR" dirty="0">
                <a:highlight>
                  <a:srgbClr val="FFCD00"/>
                </a:highlight>
              </a:rPr>
              <a:t>/</a:t>
            </a:r>
            <a:r>
              <a:rPr lang="fr-FR" dirty="0" err="1">
                <a:highlight>
                  <a:srgbClr val="FFCD00"/>
                </a:highlight>
              </a:rPr>
              <a:t>Recall</a:t>
            </a:r>
            <a:r>
              <a:rPr lang="fr-FR" dirty="0">
                <a:highlight>
                  <a:srgbClr val="FFCD00"/>
                </a:highlight>
              </a:rPr>
              <a:t> @ k</a:t>
            </a:r>
            <a:endParaRPr dirty="0">
              <a:highlight>
                <a:srgbClr val="FFCD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Google Shape;125;p1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81000" algn="l" rtl="0">
                  <a:spcBef>
                    <a:spcPts val="600"/>
                  </a:spcBef>
                  <a:spcAft>
                    <a:spcPts val="0"/>
                  </a:spcAft>
                  <a:buSzPts val="2400"/>
                  <a:buChar char="◉"/>
                </a:pPr>
                <a:r>
                  <a:rPr lang="fr-FR" dirty="0"/>
                  <a:t>Precision</a:t>
                </a:r>
                <a:br>
                  <a:rPr lang="fr-FR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𝑟𝑒𝑙𝑒𝑣𝑎𝑛𝑡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𝑖𝑡𝑒𝑚𝑠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𝑝𝑟𝑒𝑑𝑖𝑐𝑡𝑒𝑑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fr-FR" dirty="0"/>
              </a:p>
              <a:p>
                <a:r>
                  <a:rPr lang="fr-FR" dirty="0" err="1"/>
                  <a:t>Recall</a:t>
                </a:r>
                <a:br>
                  <a:rPr lang="fr-FR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𝑟𝑒𝑙𝑒𝑣𝑎𝑛𝑡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𝑖𝑡𝑒𝑚𝑠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𝑝𝑟𝑒𝑑𝑖𝑐𝑡𝑒𝑑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𝑟𝑒𝑙𝑒𝑣𝑎𝑛𝑡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𝑑𝑜𝑐𝑢𝑚𝑒𝑛𝑡𝑠</m:t>
                        </m:r>
                      </m:den>
                    </m:f>
                  </m:oMath>
                </a14:m>
                <a:endParaRPr lang="fr-FR" dirty="0"/>
              </a:p>
              <a:p>
                <a:pPr marL="457200" lvl="0" indent="-381000" algn="l" rtl="0">
                  <a:spcBef>
                    <a:spcPts val="600"/>
                  </a:spcBef>
                  <a:spcAft>
                    <a:spcPts val="0"/>
                  </a:spcAft>
                  <a:buSzPts val="2400"/>
                  <a:buChar char="◉"/>
                </a:pPr>
                <a:endParaRPr lang="fr-FR" dirty="0"/>
              </a:p>
            </p:txBody>
          </p:sp>
        </mc:Choice>
        <mc:Fallback>
          <p:sp>
            <p:nvSpPr>
              <p:cNvPr id="125" name="Google Shape;125;p1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  <a:blipFill>
                <a:blip r:embed="rId3"/>
                <a:stretch>
                  <a:fillRect l="-1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957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highlight>
                  <a:srgbClr val="FFCD00"/>
                </a:highlight>
              </a:rPr>
              <a:t>Ranking</a:t>
            </a:r>
            <a:r>
              <a:rPr lang="fr-FR" dirty="0">
                <a:highlight>
                  <a:srgbClr val="FFCD00"/>
                </a:highlight>
              </a:rPr>
              <a:t> </a:t>
            </a:r>
            <a:r>
              <a:rPr lang="fr-FR" dirty="0" err="1">
                <a:highlight>
                  <a:srgbClr val="FFCD00"/>
                </a:highlight>
              </a:rPr>
              <a:t>metrics</a:t>
            </a:r>
            <a:endParaRPr dirty="0">
              <a:highlight>
                <a:srgbClr val="FFCD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Google Shape;125;p1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81000" algn="l" rtl="0">
                  <a:spcBef>
                    <a:spcPts val="600"/>
                  </a:spcBef>
                  <a:spcAft>
                    <a:spcPts val="0"/>
                  </a:spcAft>
                  <a:buSzPts val="2400"/>
                  <a:buChar char="◉"/>
                </a:pPr>
                <a:r>
                  <a:rPr lang="fr-FR" dirty="0"/>
                  <a:t>Discounted Cumulative Gain DCG</a:t>
                </a:r>
                <a:br>
                  <a:rPr lang="fr-F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fr-FR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DCG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f>
                          <m:f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e>
                            </m:func>
                          </m:den>
                        </m:f>
                      </m:e>
                    </m:nary>
                  </m:oMath>
                </a14:m>
                <a:endParaRPr lang="fr-FR" dirty="0"/>
              </a:p>
              <a:p>
                <a:pPr marL="457200" lvl="0" indent="-381000" algn="l" rtl="0">
                  <a:spcBef>
                    <a:spcPts val="600"/>
                  </a:spcBef>
                  <a:spcAft>
                    <a:spcPts val="0"/>
                  </a:spcAft>
                  <a:buSzPts val="2400"/>
                  <a:buChar char="◉"/>
                </a:pPr>
                <a:r>
                  <a:rPr lang="fr-FR" dirty="0" err="1"/>
                  <a:t>Normalized</a:t>
                </a:r>
                <a:r>
                  <a:rPr lang="fr-FR" dirty="0"/>
                  <a:t> DCG</a:t>
                </a:r>
                <a:br>
                  <a:rPr lang="fr-FR" dirty="0"/>
                </a:b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𝑛𝐷𝐶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𝐼𝐷𝐶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125" name="Google Shape;125;p1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  <a:blipFill>
                <a:blip r:embed="rId3"/>
                <a:stretch>
                  <a:fillRect l="-1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7343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highlight>
                  <a:srgbClr val="FFCD00"/>
                </a:highlight>
              </a:rPr>
              <a:t>Counterfactual</a:t>
            </a:r>
            <a:r>
              <a:rPr lang="fr-FR" dirty="0">
                <a:highlight>
                  <a:srgbClr val="FFCD00"/>
                </a:highlight>
              </a:rPr>
              <a:t> </a:t>
            </a:r>
            <a:r>
              <a:rPr lang="fr-FR" dirty="0" err="1">
                <a:highlight>
                  <a:srgbClr val="FFCD00"/>
                </a:highlight>
              </a:rPr>
              <a:t>metrics</a:t>
            </a:r>
            <a:endParaRPr dirty="0">
              <a:highlight>
                <a:srgbClr val="FFCD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Google Shape;125;p1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81000" algn="l" rtl="0">
                  <a:spcBef>
                    <a:spcPts val="600"/>
                  </a:spcBef>
                  <a:spcAft>
                    <a:spcPts val="0"/>
                  </a:spcAft>
                  <a:buSzPts val="2400"/>
                  <a:buChar char="◉"/>
                </a:pPr>
                <a:r>
                  <a:rPr lang="fr-FR" dirty="0"/>
                  <a:t>How to </a:t>
                </a:r>
                <a:r>
                  <a:rPr lang="fr-FR" dirty="0" err="1"/>
                  <a:t>take</a:t>
                </a:r>
                <a:r>
                  <a:rPr lang="fr-FR" dirty="0"/>
                  <a:t> </a:t>
                </a:r>
                <a:r>
                  <a:rPr lang="fr-FR" dirty="0" err="1"/>
                  <a:t>into</a:t>
                </a:r>
                <a:r>
                  <a:rPr lang="fr-FR" dirty="0"/>
                  <a:t> </a:t>
                </a:r>
                <a:r>
                  <a:rPr lang="fr-FR" dirty="0" err="1"/>
                  <a:t>account</a:t>
                </a:r>
                <a:r>
                  <a:rPr lang="fr-FR" dirty="0"/>
                  <a:t> </a:t>
                </a:r>
                <a:r>
                  <a:rPr lang="fr-FR" dirty="0" err="1"/>
                  <a:t>that</a:t>
                </a:r>
                <a:r>
                  <a:rPr lang="fr-FR" dirty="0"/>
                  <a:t> data </a:t>
                </a:r>
                <a:r>
                  <a:rPr lang="fr-FR" dirty="0" err="1"/>
                  <a:t>was</a:t>
                </a:r>
                <a:r>
                  <a:rPr lang="fr-FR" dirty="0"/>
                  <a:t> </a:t>
                </a:r>
                <a:r>
                  <a:rPr lang="fr-FR" dirty="0" err="1"/>
                  <a:t>generated</a:t>
                </a:r>
                <a:r>
                  <a:rPr lang="fr-FR" dirty="0"/>
                  <a:t> </a:t>
                </a:r>
                <a:r>
                  <a:rPr lang="fr-FR" dirty="0" err="1"/>
                  <a:t>using</a:t>
                </a:r>
                <a:r>
                  <a:rPr lang="fr-FR" dirty="0"/>
                  <a:t> a model?</a:t>
                </a:r>
              </a:p>
              <a:p>
                <a:pPr lvl="0"/>
                <a:r>
                  <a:rPr lang="fr-FR" dirty="0"/>
                  <a:t>Importance </a:t>
                </a:r>
                <a:r>
                  <a:rPr lang="fr-FR" dirty="0" err="1"/>
                  <a:t>weighting</a:t>
                </a:r>
                <a:br>
                  <a:rPr lang="fr-FR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𝑡𝑒𝑠𝑡</m:t>
                                </m:r>
                              </m:sub>
                            </m:sSub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𝑝𝑟𝑜𝑑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125" name="Google Shape;125;p1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81250" y="1616470"/>
                <a:ext cx="6809700" cy="3112200"/>
              </a:xfrm>
              <a:prstGeom prst="rect">
                <a:avLst/>
              </a:prstGeom>
              <a:blipFill>
                <a:blip r:embed="rId3"/>
                <a:stretch>
                  <a:fillRect l="-1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8823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ctrTitle" idx="4294967295"/>
          </p:nvPr>
        </p:nvSpPr>
        <p:spPr>
          <a:xfrm>
            <a:off x="1951575" y="2878750"/>
            <a:ext cx="5241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highlight>
                  <a:srgbClr val="FFCD00"/>
                </a:highlight>
              </a:rPr>
              <a:t>Online system</a:t>
            </a:r>
            <a:endParaRPr sz="4800" dirty="0">
              <a:highlight>
                <a:srgbClr val="FFCD00"/>
              </a:highlight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subTitle" idx="4294967295"/>
          </p:nvPr>
        </p:nvSpPr>
        <p:spPr>
          <a:xfrm>
            <a:off x="1951575" y="3792555"/>
            <a:ext cx="52410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1800" dirty="0"/>
              <a:t>The </a:t>
            </a:r>
            <a:r>
              <a:rPr lang="fr-FR" sz="1800" dirty="0" err="1"/>
              <a:t>difference</a:t>
            </a:r>
            <a:r>
              <a:rPr lang="fr-FR" sz="1800" dirty="0"/>
              <a:t> </a:t>
            </a:r>
            <a:r>
              <a:rPr lang="fr-FR" sz="1800" dirty="0" err="1"/>
              <a:t>between</a:t>
            </a:r>
            <a:r>
              <a:rPr lang="fr-FR" sz="1800" dirty="0"/>
              <a:t> </a:t>
            </a:r>
            <a:r>
              <a:rPr lang="fr-FR" sz="1800" dirty="0" err="1"/>
              <a:t>theory</a:t>
            </a:r>
            <a:r>
              <a:rPr lang="fr-FR" sz="1800" dirty="0"/>
              <a:t> and practice</a:t>
            </a:r>
            <a:endParaRPr sz="1800" dirty="0"/>
          </a:p>
        </p:txBody>
      </p:sp>
      <p:cxnSp>
        <p:nvCxnSpPr>
          <p:cNvPr id="138" name="Google Shape;138;p18"/>
          <p:cNvCxnSpPr/>
          <p:nvPr/>
        </p:nvCxnSpPr>
        <p:spPr>
          <a:xfrm>
            <a:off x="-6025" y="1668728"/>
            <a:ext cx="91620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18"/>
          <p:cNvSpPr/>
          <p:nvPr/>
        </p:nvSpPr>
        <p:spPr>
          <a:xfrm>
            <a:off x="3470200" y="566931"/>
            <a:ext cx="2203500" cy="2203500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8" name="Google Shape;664;p39">
            <a:extLst>
              <a:ext uri="{FF2B5EF4-FFF2-40B4-BE49-F238E27FC236}">
                <a16:creationId xmlns:a16="http://schemas.microsoft.com/office/drawing/2014/main" id="{0C8BBA64-EB80-482E-8354-0C91438AD769}"/>
              </a:ext>
            </a:extLst>
          </p:cNvPr>
          <p:cNvGrpSpPr/>
          <p:nvPr/>
        </p:nvGrpSpPr>
        <p:grpSpPr>
          <a:xfrm>
            <a:off x="3686529" y="783260"/>
            <a:ext cx="1770842" cy="1770842"/>
            <a:chOff x="5941025" y="3634400"/>
            <a:chExt cx="467650" cy="467650"/>
          </a:xfrm>
        </p:grpSpPr>
        <p:sp>
          <p:nvSpPr>
            <p:cNvPr id="9" name="Google Shape;665;p39">
              <a:extLst>
                <a:ext uri="{FF2B5EF4-FFF2-40B4-BE49-F238E27FC236}">
                  <a16:creationId xmlns:a16="http://schemas.microsoft.com/office/drawing/2014/main" id="{FC217EF3-CA01-49FA-AC25-047D30564466}"/>
                </a:ext>
              </a:extLst>
            </p:cNvPr>
            <p:cNvSpPr/>
            <p:nvPr/>
          </p:nvSpPr>
          <p:spPr>
            <a:xfrm>
              <a:off x="5941025" y="3634400"/>
              <a:ext cx="467650" cy="467650"/>
            </a:xfrm>
            <a:custGeom>
              <a:avLst/>
              <a:gdLst/>
              <a:ahLst/>
              <a:cxnLst/>
              <a:rect l="l" t="t" r="r" b="b"/>
              <a:pathLst>
                <a:path w="18706" h="18706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66;p39">
              <a:extLst>
                <a:ext uri="{FF2B5EF4-FFF2-40B4-BE49-F238E27FC236}">
                  <a16:creationId xmlns:a16="http://schemas.microsoft.com/office/drawing/2014/main" id="{730593C9-42EC-4CD0-AA95-7DF7C6D5E7B9}"/>
                </a:ext>
              </a:extLst>
            </p:cNvPr>
            <p:cNvSpPr/>
            <p:nvPr/>
          </p:nvSpPr>
          <p:spPr>
            <a:xfrm>
              <a:off x="6211975" y="3753150"/>
              <a:ext cx="19525" cy="18900"/>
            </a:xfrm>
            <a:custGeom>
              <a:avLst/>
              <a:gdLst/>
              <a:ahLst/>
              <a:cxnLst/>
              <a:rect l="l" t="t" r="r" b="b"/>
              <a:pathLst>
                <a:path w="781" h="756" fill="none" extrusionOk="0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67;p39">
              <a:extLst>
                <a:ext uri="{FF2B5EF4-FFF2-40B4-BE49-F238E27FC236}">
                  <a16:creationId xmlns:a16="http://schemas.microsoft.com/office/drawing/2014/main" id="{0DEB5AC4-0502-41BB-BC7B-0EFF87F6B595}"/>
                </a:ext>
              </a:extLst>
            </p:cNvPr>
            <p:cNvSpPr/>
            <p:nvPr/>
          </p:nvSpPr>
          <p:spPr>
            <a:xfrm>
              <a:off x="5943475" y="3695900"/>
              <a:ext cx="177800" cy="351350"/>
            </a:xfrm>
            <a:custGeom>
              <a:avLst/>
              <a:gdLst/>
              <a:ahLst/>
              <a:cxnLst/>
              <a:rect l="l" t="t" r="r" b="b"/>
              <a:pathLst>
                <a:path w="7112" h="14054" fill="none" extrusionOk="0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68;p39">
              <a:extLst>
                <a:ext uri="{FF2B5EF4-FFF2-40B4-BE49-F238E27FC236}">
                  <a16:creationId xmlns:a16="http://schemas.microsoft.com/office/drawing/2014/main" id="{3F909B63-55C5-4157-B634-C250072C52CB}"/>
                </a:ext>
              </a:extLst>
            </p:cNvPr>
            <p:cNvSpPr/>
            <p:nvPr/>
          </p:nvSpPr>
          <p:spPr>
            <a:xfrm>
              <a:off x="6128575" y="3695900"/>
              <a:ext cx="86475" cy="47525"/>
            </a:xfrm>
            <a:custGeom>
              <a:avLst/>
              <a:gdLst/>
              <a:ahLst/>
              <a:cxnLst/>
              <a:rect l="l" t="t" r="r" b="b"/>
              <a:pathLst>
                <a:path w="3459" h="1901" fill="none" extrusionOk="0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69;p39">
              <a:extLst>
                <a:ext uri="{FF2B5EF4-FFF2-40B4-BE49-F238E27FC236}">
                  <a16:creationId xmlns:a16="http://schemas.microsoft.com/office/drawing/2014/main" id="{94FCD8C1-976E-4DBC-9C03-653C4832F2F1}"/>
                </a:ext>
              </a:extLst>
            </p:cNvPr>
            <p:cNvSpPr/>
            <p:nvPr/>
          </p:nvSpPr>
          <p:spPr>
            <a:xfrm>
              <a:off x="6357500" y="3940075"/>
              <a:ext cx="18900" cy="34725"/>
            </a:xfrm>
            <a:custGeom>
              <a:avLst/>
              <a:gdLst/>
              <a:ahLst/>
              <a:cxnLst/>
              <a:rect l="l" t="t" r="r" b="b"/>
              <a:pathLst>
                <a:path w="756" h="1389" fill="none" extrusionOk="0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0;p39">
              <a:extLst>
                <a:ext uri="{FF2B5EF4-FFF2-40B4-BE49-F238E27FC236}">
                  <a16:creationId xmlns:a16="http://schemas.microsoft.com/office/drawing/2014/main" id="{1AC7D250-6726-45F1-80AF-14BFF32F99FC}"/>
                </a:ext>
              </a:extLst>
            </p:cNvPr>
            <p:cNvSpPr/>
            <p:nvPr/>
          </p:nvSpPr>
          <p:spPr>
            <a:xfrm>
              <a:off x="6202850" y="3720875"/>
              <a:ext cx="204000" cy="278875"/>
            </a:xfrm>
            <a:custGeom>
              <a:avLst/>
              <a:gdLst/>
              <a:ahLst/>
              <a:cxnLst/>
              <a:rect l="l" t="t" r="r" b="b"/>
              <a:pathLst>
                <a:path w="8160" h="11155" fill="none" extrusionOk="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w="381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497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ighlight>
                  <a:srgbClr val="FFCD00"/>
                </a:highlight>
              </a:rPr>
              <a:t>The Cold Start </a:t>
            </a:r>
            <a:r>
              <a:rPr lang="fr-FR" dirty="0" err="1">
                <a:highlight>
                  <a:srgbClr val="FFCD00"/>
                </a:highlight>
              </a:rPr>
              <a:t>problem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 err="1"/>
              <a:t>What</a:t>
            </a:r>
            <a:r>
              <a:rPr lang="fr-FR" dirty="0"/>
              <a:t> if I have new </a:t>
            </a:r>
            <a:r>
              <a:rPr lang="fr-FR" dirty="0" err="1"/>
              <a:t>users</a:t>
            </a:r>
            <a:r>
              <a:rPr lang="fr-FR" dirty="0"/>
              <a:t>? New items?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Exploration / Exploitation </a:t>
            </a:r>
            <a:r>
              <a:rPr lang="fr-FR" dirty="0" err="1"/>
              <a:t>trade</a:t>
            </a:r>
            <a:r>
              <a:rPr lang="fr-FR" dirty="0"/>
              <a:t>-off</a:t>
            </a: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2027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ighlight>
                  <a:srgbClr val="FFCD00"/>
                </a:highlight>
              </a:rPr>
              <a:t>A/B </a:t>
            </a:r>
            <a:r>
              <a:rPr lang="fr-FR" dirty="0" err="1">
                <a:highlight>
                  <a:srgbClr val="FFCD00"/>
                </a:highlight>
              </a:rPr>
              <a:t>Testing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/>
              <a:t>How do you compare 2 versions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online?</a:t>
            </a:r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049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Recommendation</a:t>
            </a:r>
            <a:r>
              <a:rPr lang="fr-FR" dirty="0"/>
              <a:t> </a:t>
            </a:r>
            <a:r>
              <a:rPr lang="fr-FR" dirty="0" err="1"/>
              <a:t>algorithms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The fun part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289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4410100-9561-4768-9130-D6F73023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Family of </a:t>
            </a:r>
            <a:r>
              <a:rPr lang="fr-FR" dirty="0" err="1"/>
              <a:t>approaches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F3F632-6BA8-486B-9E41-5DF1D6EA31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/>
          </a:p>
        </p:txBody>
      </p:sp>
      <p:pic>
        <p:nvPicPr>
          <p:cNvPr id="4098" name="Picture 2" descr="https://cdn-images-1.medium.com/max/1500/1*7uW5hLXztSu_FOmZOWpB6g.png">
            <a:extLst>
              <a:ext uri="{FF2B5EF4-FFF2-40B4-BE49-F238E27FC236}">
                <a16:creationId xmlns:a16="http://schemas.microsoft.com/office/drawing/2014/main" id="{1491FD4F-FA21-498D-82EC-C9C6E6CE8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239" y="1358268"/>
            <a:ext cx="6647522" cy="3785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510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191889-4E61-40A0-AB9B-9A90CCDA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Finding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users</a:t>
            </a:r>
            <a:br>
              <a:rPr lang="fr-FR" dirty="0"/>
            </a:br>
            <a:r>
              <a:rPr lang="fr-FR" dirty="0"/>
              <a:t>User </a:t>
            </a:r>
            <a:r>
              <a:rPr lang="fr-FR" dirty="0" err="1"/>
              <a:t>vectorization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97D889-9B43-4A8D-A24B-40ABE2877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Depending</a:t>
            </a:r>
            <a:r>
              <a:rPr lang="fr-FR" dirty="0"/>
              <a:t> on the </a:t>
            </a:r>
            <a:r>
              <a:rPr lang="fr-FR" dirty="0" err="1"/>
              <a:t>problem</a:t>
            </a:r>
            <a:r>
              <a:rPr lang="fr-FR" dirty="0"/>
              <a:t>, </a:t>
            </a:r>
            <a:r>
              <a:rPr lang="fr-FR" dirty="0" err="1"/>
              <a:t>users</a:t>
            </a:r>
            <a:r>
              <a:rPr lang="fr-FR" dirty="0"/>
              <a:t>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vectorized</a:t>
            </a:r>
            <a:r>
              <a:rPr lang="fr-FR" dirty="0"/>
              <a:t> in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ways</a:t>
            </a:r>
            <a:endParaRPr lang="fr-FR" dirty="0"/>
          </a:p>
          <a:p>
            <a:pPr lvl="1"/>
            <a:r>
              <a:rPr lang="fr-FR" dirty="0" err="1"/>
              <a:t>Text</a:t>
            </a:r>
            <a:r>
              <a:rPr lang="fr-FR" dirty="0"/>
              <a:t>: TF-IDF</a:t>
            </a:r>
          </a:p>
          <a:p>
            <a:pPr lvl="1"/>
            <a:r>
              <a:rPr lang="fr-FR" dirty="0" err="1"/>
              <a:t>Movies</a:t>
            </a:r>
            <a:r>
              <a:rPr lang="fr-FR" dirty="0"/>
              <a:t>: Ratings, or </a:t>
            </a:r>
            <a:r>
              <a:rPr lang="fr-FR" dirty="0" err="1"/>
              <a:t>movies</a:t>
            </a:r>
            <a:r>
              <a:rPr lang="fr-FR" dirty="0"/>
              <a:t> </a:t>
            </a:r>
            <a:r>
              <a:rPr lang="fr-FR" dirty="0" err="1"/>
              <a:t>seen</a:t>
            </a:r>
            <a:endParaRPr lang="fr-FR" dirty="0"/>
          </a:p>
          <a:p>
            <a:pPr lvl="1"/>
            <a:r>
              <a:rPr lang="fr-FR" dirty="0"/>
              <a:t>Social network: links </a:t>
            </a:r>
            <a:r>
              <a:rPr lang="fr-FR" dirty="0" err="1"/>
              <a:t>between</a:t>
            </a:r>
            <a:r>
              <a:rPr lang="fr-FR" dirty="0"/>
              <a:t> people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3A36CA-0E7B-4CC8-9846-0A3AD497A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108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4533A-3F04-4D2E-A83B-E36B29EF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Finding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 </a:t>
            </a:r>
            <a:r>
              <a:rPr lang="fr-FR" dirty="0" err="1"/>
              <a:t>users</a:t>
            </a:r>
            <a:br>
              <a:rPr lang="fr-FR" dirty="0"/>
            </a:br>
            <a:r>
              <a:rPr lang="fr-FR" dirty="0" err="1"/>
              <a:t>Similarity</a:t>
            </a:r>
            <a:r>
              <a:rPr lang="fr-FR" dirty="0"/>
              <a:t> </a:t>
            </a:r>
            <a:r>
              <a:rPr lang="fr-FR" dirty="0" err="1"/>
              <a:t>measures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2C1867-3B6B-420C-A5A8-C009F6E73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Euclidean distance</a:t>
            </a:r>
          </a:p>
          <a:p>
            <a:r>
              <a:rPr lang="fr-FR" dirty="0" err="1"/>
              <a:t>Cosine</a:t>
            </a:r>
            <a:r>
              <a:rPr lang="fr-FR" dirty="0"/>
              <a:t> </a:t>
            </a:r>
            <a:r>
              <a:rPr lang="fr-FR" dirty="0" err="1"/>
              <a:t>similarity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Pearson </a:t>
            </a:r>
            <a:r>
              <a:rPr lang="fr-FR" dirty="0" err="1"/>
              <a:t>correlation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DAB531-728C-4D33-B2DE-07C3D1125A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27</a:t>
            </a:fld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4CD81F5F-13A1-44E0-9FC0-F0804E0F8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0193" y="2438400"/>
            <a:ext cx="4162700" cy="1143745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A3D19A46-977A-40AA-9EBF-239942C1C9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3206" y="2816745"/>
            <a:ext cx="2055044" cy="256881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7363D151-FA59-444D-B222-0DA78A7E65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73206" y="4046517"/>
            <a:ext cx="1402204" cy="454769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7D24F84A-3FD1-4036-8815-1BE3B42AC0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2043" y="4056792"/>
            <a:ext cx="2195214" cy="43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8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A4DF23-DF42-4C46-A3F8-DB7862A48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Expert </a:t>
            </a:r>
            <a:r>
              <a:rPr lang="fr-FR" dirty="0" err="1"/>
              <a:t>systems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CDAD06-27CC-438E-A62C-C82FB2DB2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Take</a:t>
            </a:r>
            <a:r>
              <a:rPr lang="fr-FR" dirty="0"/>
              <a:t> the best </a:t>
            </a:r>
            <a:r>
              <a:rPr lang="fr-FR" dirty="0" err="1"/>
              <a:t>performing</a:t>
            </a:r>
            <a:r>
              <a:rPr lang="fr-FR" dirty="0"/>
              <a:t> items</a:t>
            </a:r>
          </a:p>
          <a:p>
            <a:r>
              <a:rPr lang="fr-FR" dirty="0"/>
              <a:t>For a </a:t>
            </a:r>
            <a:r>
              <a:rPr lang="fr-FR" dirty="0" err="1"/>
              <a:t>given</a:t>
            </a:r>
            <a:r>
              <a:rPr lang="fr-FR" dirty="0"/>
              <a:t> user, </a:t>
            </a:r>
            <a:r>
              <a:rPr lang="fr-FR" dirty="0" err="1"/>
              <a:t>find</a:t>
            </a:r>
            <a:r>
              <a:rPr lang="fr-FR" dirty="0"/>
              <a:t> the </a:t>
            </a:r>
            <a:r>
              <a:rPr lang="fr-FR" dirty="0" err="1"/>
              <a:t>closest</a:t>
            </a:r>
            <a:r>
              <a:rPr lang="fr-FR" dirty="0"/>
              <a:t> one and do </a:t>
            </a:r>
            <a:r>
              <a:rPr lang="fr-FR" dirty="0" err="1"/>
              <a:t>recommendation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</a:t>
            </a:r>
            <a:r>
              <a:rPr lang="fr-FR" dirty="0" err="1"/>
              <a:t>its</a:t>
            </a:r>
            <a:r>
              <a:rPr lang="fr-FR" dirty="0"/>
              <a:t> data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429369-D956-4518-8BCD-0003E7414C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036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4410100-9561-4768-9130-D6F73023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approaches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F3F632-6BA8-486B-9E41-5DF1D6EA31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29</a:t>
            </a:fld>
            <a:endParaRPr lang="fr-FR"/>
          </a:p>
        </p:txBody>
      </p:sp>
      <p:pic>
        <p:nvPicPr>
          <p:cNvPr id="5122" name="Picture 2" descr="https://cdn-images-1.medium.com/max/1000/1*0vyDJr3urOA6uy-39cr91g.png">
            <a:extLst>
              <a:ext uri="{FF2B5EF4-FFF2-40B4-BE49-F238E27FC236}">
                <a16:creationId xmlns:a16="http://schemas.microsoft.com/office/drawing/2014/main" id="{6F67EC0B-55EC-42B6-8741-6F78BE31B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0" r="31261" b="12505"/>
          <a:stretch/>
        </p:blipFill>
        <p:spPr bwMode="auto">
          <a:xfrm>
            <a:off x="2306070" y="1436914"/>
            <a:ext cx="4531859" cy="358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E4F629-EBD6-4157-977B-59761DAEA7AE}"/>
              </a:ext>
            </a:extLst>
          </p:cNvPr>
          <p:cNvSpPr txBox="1"/>
          <p:nvPr/>
        </p:nvSpPr>
        <p:spPr>
          <a:xfrm rot="20246119">
            <a:off x="7183418" y="1887459"/>
            <a:ext cx="1901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+ Graph </a:t>
            </a:r>
            <a:r>
              <a:rPr lang="fr-FR" dirty="0" err="1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based</a:t>
            </a:r>
            <a:endParaRPr lang="fr-FR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34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ctrTitle"/>
          </p:nvPr>
        </p:nvSpPr>
        <p:spPr>
          <a:xfrm>
            <a:off x="2022225" y="1693523"/>
            <a:ext cx="3787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The </a:t>
            </a:r>
            <a:r>
              <a:rPr lang="fr-FR" dirty="0" err="1"/>
              <a:t>working</a:t>
            </a:r>
            <a:r>
              <a:rPr lang="fr-FR" dirty="0"/>
              <a:t> sessions</a:t>
            </a:r>
            <a:endParaRPr dirty="0"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2022300" y="2815923"/>
            <a:ext cx="5591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The </a:t>
            </a:r>
            <a:r>
              <a:rPr lang="fr-FR" dirty="0" err="1"/>
              <a:t>boring</a:t>
            </a:r>
            <a:r>
              <a:rPr lang="fr-FR" dirty="0"/>
              <a:t> part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133975" y="2291150"/>
            <a:ext cx="5439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sz="2400" dirty="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7632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1381250" y="922668"/>
            <a:ext cx="38784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ighlight>
                  <a:srgbClr val="FFCD00"/>
                </a:highlight>
              </a:rPr>
              <a:t>The Goal for </a:t>
            </a:r>
            <a:r>
              <a:rPr lang="fr-FR" dirty="0" err="1">
                <a:highlight>
                  <a:srgbClr val="FFCD00"/>
                </a:highlight>
              </a:rPr>
              <a:t>this</a:t>
            </a:r>
            <a:r>
              <a:rPr lang="fr-FR" dirty="0">
                <a:highlight>
                  <a:srgbClr val="FFCD00"/>
                </a:highlight>
              </a:rPr>
              <a:t> </a:t>
            </a:r>
            <a:r>
              <a:rPr lang="fr-FR" dirty="0" err="1">
                <a:highlight>
                  <a:srgbClr val="FFCD00"/>
                </a:highlight>
              </a:rPr>
              <a:t>semester</a:t>
            </a:r>
            <a:endParaRPr dirty="0">
              <a:highlight>
                <a:srgbClr val="FFCD00"/>
              </a:highlight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little</a:t>
            </a:r>
            <a:r>
              <a:rPr lang="fr-FR" dirty="0"/>
              <a:t> </a:t>
            </a:r>
            <a:r>
              <a:rPr lang="fr-FR" dirty="0" err="1"/>
              <a:t>recommendation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</a:t>
            </a:r>
            <a:r>
              <a:rPr lang="fr-FR" dirty="0" err="1"/>
              <a:t>framework</a:t>
            </a:r>
            <a:endParaRPr lang="fr-FR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◉"/>
            </a:pPr>
            <a:r>
              <a:rPr lang="fr-FR" dirty="0" err="1"/>
              <a:t>Experiment</a:t>
            </a:r>
            <a:r>
              <a:rPr lang="fr-FR" dirty="0"/>
              <a:t> </a:t>
            </a:r>
            <a:r>
              <a:rPr lang="fr-FR" dirty="0" err="1"/>
              <a:t>with</a:t>
            </a:r>
            <a:endParaRPr lang="fr-FR" dirty="0"/>
          </a:p>
          <a:p>
            <a:pPr lvl="1" indent="-381000">
              <a:spcBef>
                <a:spcPts val="600"/>
              </a:spcBef>
              <a:buSzPts val="2400"/>
              <a:buChar char="◉"/>
            </a:pPr>
            <a:r>
              <a:rPr lang="fr-FR" dirty="0" err="1"/>
              <a:t>Scikit-learn</a:t>
            </a:r>
            <a:endParaRPr lang="fr-FR" dirty="0"/>
          </a:p>
          <a:p>
            <a:pPr lvl="1" indent="-381000">
              <a:spcBef>
                <a:spcPts val="600"/>
              </a:spcBef>
              <a:buSzPts val="2400"/>
              <a:buChar char="◉"/>
            </a:pPr>
            <a:r>
              <a:rPr lang="fr-FR" dirty="0"/>
              <a:t>Surprise</a:t>
            </a:r>
          </a:p>
          <a:p>
            <a:pPr lvl="1" indent="-381000">
              <a:spcBef>
                <a:spcPts val="600"/>
              </a:spcBef>
              <a:buSzPts val="2400"/>
              <a:buChar char="◉"/>
            </a:pPr>
            <a:r>
              <a:rPr lang="fr-FR" dirty="0"/>
              <a:t>Microsoft </a:t>
            </a:r>
            <a:r>
              <a:rPr lang="fr-FR" dirty="0" err="1"/>
              <a:t>recommenders</a:t>
            </a:r>
            <a:endParaRPr lang="fr-FR" dirty="0"/>
          </a:p>
        </p:txBody>
      </p:sp>
      <p:grpSp>
        <p:nvGrpSpPr>
          <p:cNvPr id="126" name="Google Shape;126;p17"/>
          <p:cNvGrpSpPr/>
          <p:nvPr/>
        </p:nvGrpSpPr>
        <p:grpSpPr>
          <a:xfrm>
            <a:off x="916458" y="1019750"/>
            <a:ext cx="214625" cy="214625"/>
            <a:chOff x="2594050" y="1631825"/>
            <a:chExt cx="439625" cy="439625"/>
          </a:xfrm>
        </p:grpSpPr>
        <p:sp>
          <p:nvSpPr>
            <p:cNvPr id="127" name="Google Shape;127;p17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814912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17"/>
          <p:cNvSpPr txBox="1">
            <a:spLocks noGrp="1"/>
          </p:cNvSpPr>
          <p:nvPr>
            <p:ph type="sldNum" idx="12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11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A5183E-4EE9-409F-B12C-A59AB313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9975DD-8C40-4279-A42C-CD171F4C4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Load</a:t>
            </a:r>
            <a:r>
              <a:rPr lang="fr-FR" dirty="0"/>
              <a:t> a </a:t>
            </a:r>
            <a:r>
              <a:rPr lang="fr-FR" dirty="0" err="1"/>
              <a:t>dataset</a:t>
            </a:r>
            <a:r>
              <a:rPr lang="fr-FR" dirty="0"/>
              <a:t>, explore </a:t>
            </a:r>
            <a:r>
              <a:rPr lang="fr-FR" dirty="0" err="1"/>
              <a:t>it</a:t>
            </a:r>
            <a:r>
              <a:rPr lang="fr-FR" dirty="0"/>
              <a:t>, </a:t>
            </a:r>
            <a:r>
              <a:rPr lang="fr-FR" dirty="0" err="1"/>
              <a:t>find</a:t>
            </a:r>
            <a:r>
              <a:rPr lang="fr-FR" dirty="0"/>
              <a:t> </a:t>
            </a:r>
            <a:r>
              <a:rPr lang="fr-FR" dirty="0" err="1"/>
              <a:t>significant</a:t>
            </a:r>
            <a:r>
              <a:rPr lang="fr-FR" dirty="0"/>
              <a:t> stats</a:t>
            </a:r>
          </a:p>
          <a:p>
            <a:r>
              <a:rPr lang="fr-FR" dirty="0"/>
              <a:t>Code a validation </a:t>
            </a:r>
            <a:r>
              <a:rPr lang="fr-FR" dirty="0" err="1"/>
              <a:t>dataset</a:t>
            </a:r>
            <a:r>
              <a:rPr lang="fr-FR" dirty="0"/>
              <a:t> to </a:t>
            </a:r>
            <a:r>
              <a:rPr lang="fr-FR" dirty="0" err="1"/>
              <a:t>estimate</a:t>
            </a:r>
            <a:r>
              <a:rPr lang="fr-FR" dirty="0"/>
              <a:t> the performance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algorithms</a:t>
            </a:r>
            <a:endParaRPr lang="fr-FR" dirty="0"/>
          </a:p>
          <a:p>
            <a:r>
              <a:rPr lang="fr-FR" dirty="0"/>
              <a:t>Code a </a:t>
            </a:r>
            <a:r>
              <a:rPr lang="fr-FR" dirty="0" err="1"/>
              <a:t>naive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to check the </a:t>
            </a:r>
            <a:r>
              <a:rPr lang="fr-FR" dirty="0" err="1"/>
              <a:t>workability</a:t>
            </a:r>
            <a:r>
              <a:rPr lang="fr-FR" dirty="0"/>
              <a:t> of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framework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D42206-59F8-4801-B73D-5C19B509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044015"/>
      </p:ext>
    </p:extLst>
  </p:cSld>
  <p:clrMapOvr>
    <a:masterClrMapping/>
  </p:clrMapOvr>
</p:sld>
</file>

<file path=ppt/theme/theme1.xml><?xml version="1.0" encoding="utf-8"?>
<a:theme xmlns:a="http://schemas.openxmlformats.org/drawingml/2006/main" name="Vio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Affichage à l'écran (16:9)</PresentationFormat>
  <Paragraphs>228</Paragraphs>
  <Slides>32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Arial</vt:lpstr>
      <vt:lpstr>MV Boli</vt:lpstr>
      <vt:lpstr>Lora</vt:lpstr>
      <vt:lpstr>Quattrocento Sans</vt:lpstr>
      <vt:lpstr>Cambria Math</vt:lpstr>
      <vt:lpstr>Viola template</vt:lpstr>
      <vt:lpstr>Introduction to Recmmender Systems</vt:lpstr>
      <vt:lpstr>Hello!</vt:lpstr>
      <vt:lpstr>Présentation PowerPoint</vt:lpstr>
      <vt:lpstr>Objectives of the course</vt:lpstr>
      <vt:lpstr>Planning of the course</vt:lpstr>
      <vt:lpstr>Recommender problems</vt:lpstr>
      <vt:lpstr>Known recommendation problems</vt:lpstr>
      <vt:lpstr>ML sub-domain</vt:lpstr>
      <vt:lpstr>Recommenders system</vt:lpstr>
      <vt:lpstr>Recommendation data</vt:lpstr>
      <vt:lpstr>Data</vt:lpstr>
      <vt:lpstr>Example</vt:lpstr>
      <vt:lpstr>Famous public datasets</vt:lpstr>
      <vt:lpstr>A closer look to the MovieLens 100k</vt:lpstr>
      <vt:lpstr>Recommendation metrics</vt:lpstr>
      <vt:lpstr>Objectives and metrics</vt:lpstr>
      <vt:lpstr>Accuracy / Error</vt:lpstr>
      <vt:lpstr>Precision/Recall @ k</vt:lpstr>
      <vt:lpstr>Ranking metrics</vt:lpstr>
      <vt:lpstr>Counterfactual metrics</vt:lpstr>
      <vt:lpstr>Online system</vt:lpstr>
      <vt:lpstr>The Cold Start problem</vt:lpstr>
      <vt:lpstr>A/B Testing</vt:lpstr>
      <vt:lpstr>Recommendation algorithms</vt:lpstr>
      <vt:lpstr>Family of approaches</vt:lpstr>
      <vt:lpstr>Finding similar users User vectorization</vt:lpstr>
      <vt:lpstr>Finding similar users Similarity measures</vt:lpstr>
      <vt:lpstr>Expert systems</vt:lpstr>
      <vt:lpstr>Model based approaches</vt:lpstr>
      <vt:lpstr>The working sessions</vt:lpstr>
      <vt:lpstr>The Goal for this semester</vt:lpstr>
      <vt:lpstr>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Alexandre Abraham</cp:lastModifiedBy>
  <cp:revision>48</cp:revision>
  <dcterms:modified xsi:type="dcterms:W3CDTF">2019-05-16T16:55:58Z</dcterms:modified>
</cp:coreProperties>
</file>